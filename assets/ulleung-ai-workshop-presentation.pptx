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71" r:id="rId4"/>
    <p:sldId id="272" r:id="rId5"/>
    <p:sldId id="262" r:id="rId6"/>
    <p:sldId id="273" r:id="rId7"/>
    <p:sldId id="261" r:id="rId8"/>
    <p:sldId id="275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77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AI를 어렵게 배우는 시간이 아닙니다.
울릉도의 이야기와 관광 자원을 직접 콘텐츠로 바꿔보는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03ED9-0479-D3BE-1128-FE034EFC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E3ECB-A87A-6AD8-9BE0-6B042AE4D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D4797-EAF9-F521-7B8E-F0E3F9235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중요한 것은 AI가 사람을 대신한다는 것이 아닙니다.
사람이 더 중요한 판단에 집중할 수 있게 해준다는 점입니다.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6BDFFD-2C72-22E2-8D75-6E7A1584D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00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9143-D9A8-00A6-366C-102258B7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C8BB3-E3D3-4C75-8D8F-02EB8E650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297A9-567B-F8F6-13FB-2CD2C7031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FC002-FEB0-4231-EE7E-80A9D4FC5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8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BAE9-D770-408F-E381-D0F4734D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D8B1C-0BB4-1CFC-3B59-3B2C8D9A6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03776-9121-3657-C04C-AD0BC06D9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9E0F0-6E64-12F3-5739-7AF4149C7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중요한 것은 AI가 사람을 대신한다는 것이 아닙니다.
사람이 더 중요한 판단에 집중할 수 있게 해준다는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4210-570D-87A0-5E06-3839C1B7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90E1F-487B-AB32-78AE-1A16E2E10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97270-6EFF-F042-1991-CAA84ADE8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AI의 품질은 결국 질문의 품질을 따라갑니다.
오늘은 그 부탁하는 방법을 아주 쉽게 익혀보게 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DE59-C10E-91DE-7DDC-F9AE24E01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75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AI의 품질은 결국 질문의 품질을 따라갑니다.
오늘은 그 부탁하는 방법을 아주 쉽게 익혀보게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4D7F-648C-D93D-8261-9C3604E5C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635DA-9DF1-5100-4FFC-2CCE41D02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F9229-527F-BEC9-7791-B2B8706E1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AI의 품질은 결국 질문의 품질을 따라갑니다.
오늘은 그 부탁하는 방법을 아주 쉽게 익혀보게 됩니다.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2D6A2-0854-AB6D-97D4-28EF0ECF86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설명만 듣고 끝나는 것이 아니라, 직접 콘텐츠를 만들고 웹페이지로 보여주는 데까지 가보겠습니다.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목표는 AI를 구경하는 것이 아니라, 직접 내 손으로 쓸 수 있는 결과물을 하나라도 완성하는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정답을 맞히는 시간이 아닙니다.
AI를 쓰기 전에, 우리가 전달하고 싶은 울릉도의 이야기를 먼저 떠올려보는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ulleung_panel_t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66928"/>
            <a:ext cx="5532120" cy="5349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01952"/>
            <a:ext cx="49834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AI로 관광 홍보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콘텐츠 직접 만들기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364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울릉군 글로벌 생태관광 전문인재 양성 교육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 이해부터 울릉도 관광 홍보 실습, 웹페이지 제작까지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492240" y="4892040"/>
            <a:ext cx="4480560" cy="822960"/>
          </a:xfrm>
          <a:prstGeom prst="roundRect">
            <a:avLst>
              <a:gd name="adj" fmla="val 13333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748272" y="5102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결과물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48272" y="5358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울릉도 생태관광 홍보 웹페이지</a:t>
            </a:r>
            <a:endParaRPr lang="en-US" sz="15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D8F0444-6966-EE08-151E-932E3671431E}"/>
              </a:ext>
            </a:extLst>
          </p:cNvPr>
          <p:cNvSpPr/>
          <p:nvPr/>
        </p:nvSpPr>
        <p:spPr>
          <a:xfrm>
            <a:off x="640080" y="1469466"/>
            <a:ext cx="37984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울릉도 AI 관광 콘텐츠 만들기 교실</a:t>
            </a:r>
            <a:endParaRPr lang="en-US" sz="1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E8D2249-F009-02D6-1F32-476665FB5AC3}"/>
              </a:ext>
            </a:extLst>
          </p:cNvPr>
          <p:cNvSpPr/>
          <p:nvPr/>
        </p:nvSpPr>
        <p:spPr>
          <a:xfrm>
            <a:off x="640080" y="4178808"/>
            <a:ext cx="39096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이성로 · 김강훈  |   AI 트렌드 · 오늘의 실습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D1B9-DEE5-E7EE-E88C-2A74814E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8D7293-B34E-A91F-9BCC-44DAC9EAA895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9A3AFA-AD07-DD9D-B96B-A8CEB56EF65C}"/>
              </a:ext>
            </a:extLst>
          </p:cNvPr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강사소개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45E062-AB91-EAF4-58E5-65BA2698DB72}"/>
              </a:ext>
            </a:extLst>
          </p:cNvPr>
          <p:cNvSpPr/>
          <p:nvPr/>
        </p:nvSpPr>
        <p:spPr>
          <a:xfrm>
            <a:off x="640080" y="73152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실전 경험으로 함께하겠습니다</a:t>
            </a:r>
            <a:r>
              <a:rPr lang="en-US" altLang="ko-KR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B88D50-E0AF-3B4A-D8EE-6EE1D2D09A5D}"/>
              </a:ext>
            </a:extLst>
          </p:cNvPr>
          <p:cNvSpPr/>
          <p:nvPr/>
        </p:nvSpPr>
        <p:spPr>
          <a:xfrm>
            <a:off x="502920" y="1536192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C4A6E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409AD72-0F97-1739-864E-AA51C6761F68}"/>
              </a:ext>
            </a:extLst>
          </p:cNvPr>
          <p:cNvSpPr/>
          <p:nvPr/>
        </p:nvSpPr>
        <p:spPr>
          <a:xfrm>
            <a:off x="822960" y="1810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이성로</a:t>
            </a:r>
            <a:endParaRPr lang="en-US" sz="2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86FFE53-1551-110B-A4D4-5B2C02C95910}"/>
              </a:ext>
            </a:extLst>
          </p:cNvPr>
          <p:cNvSpPr/>
          <p:nvPr/>
        </p:nvSpPr>
        <p:spPr>
          <a:xfrm>
            <a:off x="822960" y="2313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총괄 · 데이터 분석</a:t>
            </a:r>
            <a:endParaRPr lang="en-US" sz="14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75E5C7B1-416F-1B7F-2D54-4123A3D47BE9}"/>
              </a:ext>
            </a:extLst>
          </p:cNvPr>
          <p:cNvSpPr/>
          <p:nvPr/>
        </p:nvSpPr>
        <p:spPr>
          <a:xfrm>
            <a:off x="822960" y="2816352"/>
            <a:ext cx="45720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APA(미국심리학회) · 한국심리학회 제1저자 포스터 논문 발표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빅데이터 마이크로디그리 이수, 데이터 분석 역량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총학생회 국장 — 41개 로컬 업체 협약, 기존 대비 200% 달성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게이미피케이션 영어 AI 교육 콘텐츠 기획 · 운영</a:t>
            </a:r>
            <a:endParaRPr lang="en-US" sz="1350" dirty="0"/>
          </a:p>
        </p:txBody>
      </p:sp>
      <p:sp>
        <p:nvSpPr>
          <p:cNvPr id="26" name="Shape 6">
            <a:extLst>
              <a:ext uri="{FF2B5EF4-FFF2-40B4-BE49-F238E27FC236}">
                <a16:creationId xmlns:a16="http://schemas.microsoft.com/office/drawing/2014/main" id="{6275E72C-CBD6-7539-C243-B04AED63986B}"/>
              </a:ext>
            </a:extLst>
          </p:cNvPr>
          <p:cNvSpPr/>
          <p:nvPr/>
        </p:nvSpPr>
        <p:spPr>
          <a:xfrm>
            <a:off x="6172200" y="1536192"/>
            <a:ext cx="52120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52400" dist="38100" dir="5400000" algn="bl" rotWithShape="0">
              <a:srgbClr val="0C4A6E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D5D873A-9F0E-8A89-2DAB-97C3534EEBEF}"/>
              </a:ext>
            </a:extLst>
          </p:cNvPr>
          <p:cNvSpPr/>
          <p:nvPr/>
        </p:nvSpPr>
        <p:spPr>
          <a:xfrm>
            <a:off x="6492240" y="18105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4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김강훈</a:t>
            </a:r>
            <a:endParaRPr lang="en-US" sz="24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F6FC20F-C805-E683-A462-CA4D01671D43}"/>
              </a:ext>
            </a:extLst>
          </p:cNvPr>
          <p:cNvSpPr/>
          <p:nvPr/>
        </p:nvSpPr>
        <p:spPr>
          <a:xfrm>
            <a:off x="6492240" y="2313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총괄 · 기획 · 개발</a:t>
            </a:r>
            <a:endParaRPr lang="en-US" sz="1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9A831AD-6FBF-B4A7-0459-0D5E89246708}"/>
              </a:ext>
            </a:extLst>
          </p:cNvPr>
          <p:cNvSpPr/>
          <p:nvPr/>
        </p:nvSpPr>
        <p:spPr>
          <a:xfrm>
            <a:off x="6492240" y="2816352"/>
            <a:ext cx="45720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전산학 전공, 다수 프로젝트 동시 개발 진행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학원 관리 앱 자체 개발 완료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총학생회 활동 — 소통 · 기획 · 운영 역량</a:t>
            </a:r>
            <a:endParaRPr lang="en-US" sz="13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교육 콘텐츠 웹페이지 직접 개발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86978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5F4D5-6D0E-C66C-5646-B16A4FB1C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E8A3D7-8E60-05FC-03B1-AC70435BA739}"/>
              </a:ext>
            </a:extLst>
          </p:cNvPr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0E929E94-C3EB-AD34-4505-566702829D0B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3FF3D11-1F69-2F1A-8848-900D155A18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67" t="33779" r="50081" b="16891"/>
          <a:stretch>
            <a:fillRect/>
          </a:stretch>
        </p:blipFill>
        <p:spPr>
          <a:xfrm>
            <a:off x="2937613" y="1261872"/>
            <a:ext cx="6316774" cy="26690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9EF7827-5346-9304-54C7-7194C48C6F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90" t="35484" r="3058" b="15186"/>
          <a:stretch>
            <a:fillRect/>
          </a:stretch>
        </p:blipFill>
        <p:spPr>
          <a:xfrm>
            <a:off x="2937613" y="3979752"/>
            <a:ext cx="6316774" cy="2669092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694B15CD-4A52-802D-C094-976AB7FD904A}"/>
              </a:ext>
            </a:extLst>
          </p:cNvPr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AI 트렌드</a:t>
            </a:r>
            <a:endParaRPr lang="en-US" sz="10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A6AB685-0B3A-6778-B600-6E802178C230}"/>
              </a:ext>
            </a:extLst>
          </p:cNvPr>
          <p:cNvSpPr/>
          <p:nvPr/>
        </p:nvSpPr>
        <p:spPr>
          <a:xfrm>
            <a:off x="640080" y="731520"/>
            <a:ext cx="63167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02A"/>
                </a:solidFill>
                <a:latin typeface="Noto Sans CJK KR" pitchFamily="34" charset="0"/>
              </a:rPr>
              <a:t>AI</a:t>
            </a:r>
            <a:r>
              <a:rPr lang="ko-KR" altLang="en-US" sz="2400" b="1" dirty="0">
                <a:solidFill>
                  <a:srgbClr val="17202A"/>
                </a:solidFill>
                <a:latin typeface="Noto Sans CJK KR" pitchFamily="34" charset="0"/>
              </a:rPr>
              <a:t>시대 패러다임의 대전환</a:t>
            </a:r>
            <a:r>
              <a:rPr lang="en-US" altLang="ko-KR" sz="2400" b="1" dirty="0">
                <a:solidFill>
                  <a:srgbClr val="17202A"/>
                </a:solidFill>
                <a:latin typeface="Noto Sans CJK KR" pitchFamily="34" charset="0"/>
              </a:rPr>
              <a:t>:</a:t>
            </a:r>
            <a:r>
              <a:rPr lang="ko-KR" altLang="en-US" sz="2400" b="1" dirty="0">
                <a:solidFill>
                  <a:srgbClr val="17202A"/>
                </a:solidFill>
                <a:latin typeface="Noto Sans CJK KR" pitchFamily="34" charset="0"/>
              </a:rPr>
              <a:t> 검색에서 요청으로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28473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EF30B-FDE6-1B18-F229-55AACB08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8C99BA-C7DE-456B-47CA-4A81814C09D3}"/>
              </a:ext>
            </a:extLst>
          </p:cNvPr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244CB2F-66CA-88B6-8BA3-23F913AFBED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2E2EE39F-41AD-AFC9-95E7-390104529F17}"/>
              </a:ext>
            </a:extLst>
          </p:cNvPr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최신 AI 트렌드</a:t>
            </a:r>
            <a:endParaRPr lang="en-US" sz="105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66E37D0-3BAC-E4C6-C1AC-9899FD281953}"/>
              </a:ext>
            </a:extLst>
          </p:cNvPr>
          <p:cNvSpPr/>
          <p:nvPr/>
        </p:nvSpPr>
        <p:spPr>
          <a:xfrm>
            <a:off x="640080" y="731520"/>
            <a:ext cx="631677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17202A"/>
                </a:solidFill>
                <a:latin typeface="Noto Sans CJK KR" pitchFamily="34" charset="0"/>
              </a:rPr>
              <a:t>생산성의 대폭발</a:t>
            </a:r>
            <a:endParaRPr 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DC8C88-BF27-F507-419E-B2C6B6B27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47" y="1316736"/>
            <a:ext cx="5016500" cy="2705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194854-AFCA-F09F-CFD9-19B0179EB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7" y="1386586"/>
            <a:ext cx="4864100" cy="25654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FA670B-0E2C-63C6-2EDF-68136596F2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097" y="4021836"/>
            <a:ext cx="4902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24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사용 전 / 후 비교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AI를 쓰기 전과 후, 무엇이 달라질까요?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혼자 오래 걸리던 일이, AI와 함께하면 더 빠르고 구조적으로 바뀝니다.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565392" y="214884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51560" y="2468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39712" y="2468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아이디어 정리 오래 걸림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홍보문구 직접 고민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4032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번역 부담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471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웹페이지 제작 막막함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3154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AI가 초안 생성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3593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여러 버전 빠르게 비교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0" y="4032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다국어 초안 확보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44714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웹페이지 구조 즉시 생성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50474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 작성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02168" y="5047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검토 · 수정 · 완성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5879592" y="3493008"/>
            <a:ext cx="512064" cy="512064"/>
          </a:xfrm>
          <a:prstGeom prst="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대신하는 것이 아니라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더 중요한 판단에 집중하도록 돕습니다.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1F5A-9A7F-FEB7-AB6E-E2B0CA056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1FAF3A-8A3F-E214-54D1-C2406ED7F5BE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CD117A-EC8F-19C6-540D-39BC97F9EE56}"/>
              </a:ext>
            </a:extLst>
          </p:cNvPr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프롬프트의 힘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9876FB-A6FD-AD4D-C490-7F3F4E05A253}"/>
              </a:ext>
            </a:extLst>
          </p:cNvPr>
          <p:cNvSpPr/>
          <p:nvPr/>
        </p:nvSpPr>
        <p:spPr>
          <a:xfrm>
            <a:off x="640080" y="731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 “잘 물어보는 사람”에게 더 잘 답합니다</a:t>
            </a:r>
            <a:endParaRPr lang="en-US" sz="30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AE437C0-D095-BCD2-4D55-822C6E677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9" y="1383907"/>
            <a:ext cx="5456072" cy="266459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907B903-A58E-C591-0D4C-BFCB730DD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10" y="1316736"/>
            <a:ext cx="5092220" cy="273176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CBCB4AC-EBED-E707-FA11-14E4627113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131"/>
          <a:stretch>
            <a:fillRect/>
          </a:stretch>
        </p:blipFill>
        <p:spPr>
          <a:xfrm>
            <a:off x="3420986" y="3981329"/>
            <a:ext cx="5216387" cy="273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8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프롬프트의 힘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“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물어보는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사람”에게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더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답합니다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질문이 구체적일수록 결과가 좋아집니다.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4892040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450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막연한 질문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“울릉도 소개글 써줘”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92240" y="2148840"/>
            <a:ext cx="4892040" cy="201168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812280" y="2450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질문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12280" y="2907792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“가족 여행객에게, 성인봉과 해안산책로의 매력을 담아</a:t>
            </a:r>
            <a:endParaRPr lang="en-US" sz="1720" dirty="0"/>
          </a:p>
          <a:p>
            <a:pPr marL="0" indent="0" algn="ctr">
              <a:buNone/>
            </a:pPr>
            <a:r>
              <a:rPr lang="en-US" sz="172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300자 소개글을 따뜻한 분위기로 작성해줘”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 rot="5400000">
            <a:off x="5806440" y="2862072"/>
            <a:ext cx="438912" cy="438912"/>
          </a:xfrm>
          <a:prstGeom prst="triangl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60120" y="48006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69848" y="4864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18104" y="48006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27832" y="4864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76088" y="48006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385816" y="4864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분위기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34072" y="48006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4864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92056" y="48006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701784" y="486460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포함할 내용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6509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프롬프트 = AI에게 일을 맡기는 구체적인 요청서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B779C-9110-DC19-0D47-D8128811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8">
            <a:extLst>
              <a:ext uri="{FF2B5EF4-FFF2-40B4-BE49-F238E27FC236}">
                <a16:creationId xmlns:a16="http://schemas.microsoft.com/office/drawing/2014/main" id="{83311903-5425-32F9-6712-CA61CE4AECC4}"/>
              </a:ext>
            </a:extLst>
          </p:cNvPr>
          <p:cNvSpPr/>
          <p:nvPr/>
        </p:nvSpPr>
        <p:spPr>
          <a:xfrm>
            <a:off x="783418" y="1499616"/>
            <a:ext cx="10547728" cy="4187952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6F7BEE2-4F31-86E3-460F-3F4D6FEB055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C9331D-CCF3-169F-F03C-CCC91FDA3609}"/>
              </a:ext>
            </a:extLst>
          </p:cNvPr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프롬프트의 힘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200B35-F246-3C97-E5C7-2D51535EFAE6}"/>
              </a:ext>
            </a:extLst>
          </p:cNvPr>
          <p:cNvSpPr/>
          <p:nvPr/>
        </p:nvSpPr>
        <p:spPr>
          <a:xfrm>
            <a:off x="640080" y="731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AI는</a:t>
            </a: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도구 입니다</a:t>
            </a:r>
            <a:r>
              <a:rPr lang="en-US" altLang="ko-KR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ko-KR" alt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판단은 우리가 </a:t>
            </a:r>
            <a:r>
              <a:rPr lang="ko-KR" altLang="en-US" sz="3000" b="1" dirty="0" err="1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해야합니다</a:t>
            </a:r>
            <a:r>
              <a:rPr lang="en-US" altLang="ko-KR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endParaRPr lang="en-US" sz="30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59C1F839-7D6A-E7EC-DB8F-68D2BC76C709}"/>
              </a:ext>
            </a:extLst>
          </p:cNvPr>
          <p:cNvSpPr/>
          <p:nvPr/>
        </p:nvSpPr>
        <p:spPr>
          <a:xfrm>
            <a:off x="1016961" y="1723521"/>
            <a:ext cx="640080" cy="640080"/>
          </a:xfrm>
          <a:prstGeom prst="ellipse">
            <a:avLst/>
          </a:prstGeom>
          <a:solidFill>
            <a:srgbClr val="E8A65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87B62B1E-4631-5812-A211-1D4B6D8E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53" y="1888113"/>
            <a:ext cx="310896" cy="310896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F1276B3C-A3DB-C461-74BC-A1A4E7BD5357}"/>
              </a:ext>
            </a:extLst>
          </p:cNvPr>
          <p:cNvSpPr/>
          <p:nvPr/>
        </p:nvSpPr>
        <p:spPr>
          <a:xfrm>
            <a:off x="1181553" y="4013595"/>
            <a:ext cx="10128834" cy="1045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000" b="1" dirty="0">
                <a:latin typeface="+mj-ea"/>
                <a:ea typeface="+mj-ea"/>
                <a:cs typeface="Calibri" pitchFamily="34" charset="-120"/>
              </a:rPr>
              <a:t>지명 · 숫자 · 사실관계는 실제 </a:t>
            </a:r>
            <a:r>
              <a:rPr lang="en-US" sz="3000" b="1" dirty="0" err="1">
                <a:latin typeface="+mj-ea"/>
                <a:ea typeface="+mj-ea"/>
                <a:cs typeface="Calibri" pitchFamily="34" charset="-120"/>
              </a:rPr>
              <a:t>자료와</a:t>
            </a:r>
            <a:r>
              <a:rPr lang="en-US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latin typeface="+mj-ea"/>
                <a:ea typeface="+mj-ea"/>
                <a:cs typeface="Calibri" pitchFamily="34" charset="-120"/>
              </a:rPr>
              <a:t>대조</a:t>
            </a:r>
            <a:r>
              <a:rPr lang="ko-KR" altLang="en-US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sz="3000" b="1" dirty="0" err="1">
                <a:latin typeface="+mj-ea"/>
                <a:ea typeface="+mj-ea"/>
                <a:cs typeface="Calibri" pitchFamily="34" charset="-120"/>
              </a:rPr>
              <a:t>어색한</a:t>
            </a:r>
            <a:r>
              <a:rPr lang="en-US" sz="3000" b="1" dirty="0">
                <a:latin typeface="+mj-ea"/>
                <a:ea typeface="+mj-ea"/>
                <a:cs typeface="Calibri" pitchFamily="34" charset="-120"/>
              </a:rPr>
              <a:t> 문장,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3000" b="1" dirty="0" err="1">
                <a:latin typeface="+mj-ea"/>
                <a:ea typeface="+mj-ea"/>
                <a:cs typeface="Calibri" pitchFamily="34" charset="-120"/>
              </a:rPr>
              <a:t>과장된</a:t>
            </a:r>
            <a:r>
              <a:rPr lang="en-US" sz="3000" b="1" dirty="0">
                <a:latin typeface="+mj-ea"/>
                <a:ea typeface="+mj-ea"/>
                <a:cs typeface="Calibri" pitchFamily="34" charset="-120"/>
              </a:rPr>
              <a:t> 표현은 직접 수정</a:t>
            </a:r>
            <a:endParaRPr lang="en-US" sz="3000" b="1" dirty="0">
              <a:latin typeface="+mj-ea"/>
              <a:ea typeface="+mj-ea"/>
            </a:endParaRPr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771DBE7E-D39B-82B7-433F-811A11798972}"/>
              </a:ext>
            </a:extLst>
          </p:cNvPr>
          <p:cNvSpPr/>
          <p:nvPr/>
        </p:nvSpPr>
        <p:spPr>
          <a:xfrm>
            <a:off x="1657041" y="1938528"/>
            <a:ext cx="580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0C4A6E"/>
                </a:solidFill>
                <a:latin typeface="Noto Sans CJK KR" pitchFamily="34" charset="0"/>
              </a:rPr>
              <a:t>틀린 부분을 찾아야 합니다</a:t>
            </a:r>
            <a:r>
              <a:rPr lang="en-US" altLang="ko-KR" sz="3200" b="1" dirty="0">
                <a:solidFill>
                  <a:srgbClr val="0C4A6E"/>
                </a:solidFill>
                <a:latin typeface="Noto Sans CJK KR" pitchFamily="34" charset="0"/>
              </a:rPr>
              <a:t>.</a:t>
            </a:r>
            <a:endParaRPr 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CD6D0-798A-A88F-EA6F-270546EDF07F}"/>
              </a:ext>
            </a:extLst>
          </p:cNvPr>
          <p:cNvSpPr txBox="1"/>
          <p:nvPr/>
        </p:nvSpPr>
        <p:spPr>
          <a:xfrm>
            <a:off x="1016961" y="2815052"/>
            <a:ext cx="101288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AI는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그럴듯하지만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틀린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정보를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자신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있게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말하기도</a:t>
            </a:r>
            <a:r>
              <a:rPr lang="ko-KR" altLang="en-US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합니다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.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결과물은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항상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우리가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다시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확인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 </a:t>
            </a:r>
            <a:r>
              <a:rPr lang="ko-KR" altLang="en-US" sz="3000" b="1" dirty="0">
                <a:latin typeface="+mj-ea"/>
                <a:ea typeface="+mj-ea"/>
                <a:cs typeface="Calibri" pitchFamily="34" charset="-120"/>
              </a:rPr>
              <a:t>해야</a:t>
            </a:r>
            <a:r>
              <a:rPr lang="en-US" altLang="ko-KR" sz="3000" b="1" dirty="0" err="1">
                <a:latin typeface="+mj-ea"/>
                <a:ea typeface="+mj-ea"/>
                <a:cs typeface="Calibri" pitchFamily="34" charset="-120"/>
              </a:rPr>
              <a:t>합니다</a:t>
            </a:r>
            <a:r>
              <a:rPr lang="en-US" altLang="ko-KR" sz="3000" b="1" dirty="0">
                <a:latin typeface="+mj-ea"/>
                <a:ea typeface="+mj-ea"/>
                <a:cs typeface="Calibri" pitchFamily="34" charset="-120"/>
              </a:rPr>
              <a:t>.</a:t>
            </a:r>
            <a:endParaRPr lang="en-US" altLang="ko-KR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48771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해볼 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오늘은 이런 흐름으로 진행됩니다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이해에서 끝나지 않고, 직접 결과물까지 만들어봅니다.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2441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4168" y="24963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이해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0" y="224028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39312" y="2441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33088" y="24963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예시 보기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224028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28232" y="2441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22008" y="24963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시작 준비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052560" y="224028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217152" y="2441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10928" y="24963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프롬프트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50392" y="3767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44168" y="38221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474720" y="356616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39312" y="3767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33088" y="38221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웹페이지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28232" y="3767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22008" y="38221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GitHub 배포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9052560" y="356616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217152" y="376732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10928" y="382219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 공유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097280" y="3401568"/>
            <a:ext cx="9692640" cy="0"/>
          </a:xfrm>
          <a:prstGeom prst="line">
            <a:avLst/>
          </a:prstGeom>
          <a:noFill/>
          <a:ln w="15240">
            <a:solidFill>
              <a:srgbClr val="0C4A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97280" y="5413248"/>
            <a:ext cx="9966960" cy="64008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280160" y="562356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설명만 듣는 시간이 아니라, 직접 콘텐츠를 만들고 웹페이지로 보여주는 데까지 갑니다.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만들 결과물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여러분이 직접 만들 결과물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작은 결과물 하나가 아니라, 실제로 쓸 수 있는 콘텐츠 세트를 만듭니다.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2011680" cy="2057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86968" y="2624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홍보 문구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86968" y="35021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울릉도의 첫인상을 한 문장으로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2331720"/>
            <a:ext cx="2011680" cy="2057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172968" y="2624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729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SNS 홍보글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172968" y="35021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관광객이 읽고 싶게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57800" y="2331720"/>
            <a:ext cx="2011680" cy="2057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58968" y="2624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다국어 안내문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58968" y="35021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외국인 관광객도 이해하기 쉽게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2331720"/>
            <a:ext cx="2011680" cy="2057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44968" y="2624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449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 소개 콘텐츠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744968" y="35021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가게 · 숙소 · 체험 · 관광지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29800" y="2331720"/>
            <a:ext cx="2011680" cy="2057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030968" y="26243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30968" y="3063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웹페이지 초안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030968" y="35021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가능한 형태로 정리</a:t>
            </a:r>
            <a:endParaRPr lang="en-US" sz="1150" dirty="0"/>
          </a:p>
        </p:txBody>
      </p:sp>
      <p:pic>
        <p:nvPicPr>
          <p:cNvPr id="27" name="Image 0" descr="/mnt/data/site_wide_stri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99432"/>
            <a:ext cx="8321040" cy="1325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97280" y="5989320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목표는 AI를 구경하는 것이 아니라, 직접 쓸 수 있는 결과물을 완성하는 것입니다.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자유 토론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없는 질문으로 먼저 생각해봅시다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부담 없이, 내 경험을 떠올리며 답해보면 됩니다.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148840"/>
            <a:ext cx="5074920" cy="987552"/>
          </a:xfrm>
          <a:prstGeom prst="roundRect">
            <a:avLst>
              <a:gd name="adj" fmla="val 9259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42416" y="23682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19072" y="23682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외국인이 울릉도에 처음 온다면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먼저 어떤 정보가 필요할까요?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36792" y="2148840"/>
            <a:ext cx="5074920" cy="987552"/>
          </a:xfrm>
          <a:prstGeom prst="roundRect">
            <a:avLst>
              <a:gd name="adj" fmla="val 925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74536" y="236829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51192" y="236829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울릉도의 매력을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문장으로 말한다면?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" y="3566160"/>
            <a:ext cx="5074920" cy="987552"/>
          </a:xfrm>
          <a:prstGeom prst="roundRect">
            <a:avLst>
              <a:gd name="adj" fmla="val 9259"/>
            </a:avLst>
          </a:prstGeom>
          <a:solidFill>
            <a:srgbClr val="F5F8FA"/>
          </a:solidFill>
          <a:ln w="12700">
            <a:solidFill>
              <a:srgbClr val="E7EEF2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42416" y="37856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19072" y="378561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가게·마을·프로그램을 소개한다면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강조할까요?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36792" y="3566160"/>
            <a:ext cx="5074920" cy="987552"/>
          </a:xfrm>
          <a:prstGeom prst="roundRect">
            <a:avLst>
              <a:gd name="adj" fmla="val 9259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  <a:effectLst>
            <a:outerShdw blurRad="1905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74536" y="37856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51192" y="3785616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관광객이 가장 자주 물어볼 질문은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7202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무엇일까요?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57607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C4A6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정답을 맞히는 시간이 아니라, 우리가 전달하고 싶은 울릉도의 이야기를 떠올리는 시간입니다.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719</Words>
  <Application>Microsoft Macintosh PowerPoint</Application>
  <PresentationFormat>와이드스크린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CJK KR</vt:lpstr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AI로 관광 홍보 콘텐츠 직접 만들기</dc:title>
  <dc:subject>울릉군 글로벌 생태관광 전문인재 양성 교육 도입 발표자료</dc:subject>
  <dc:creator>OpenAI</dc:creator>
  <cp:lastModifiedBy>김강훈/21900063</cp:lastModifiedBy>
  <cp:revision>4</cp:revision>
  <dcterms:created xsi:type="dcterms:W3CDTF">2026-07-03T21:41:05Z</dcterms:created>
  <dcterms:modified xsi:type="dcterms:W3CDTF">2026-07-03T22:33:46Z</dcterms:modified>
</cp:coreProperties>
</file>